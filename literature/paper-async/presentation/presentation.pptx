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5753100" cy="3238500" type="screen4x3"/>
  <p:notesSz cx="6858000" cy="9144000"/>
  <p:embeddedFontLst>
    <p:embeddedFont>
      <p:font typeface="Epilogue"/>
      <p:regular r:id="rId71"/>
      <p:bold r:id="rId72"/>
      <p:italic r:id="rId73"/>
      <p:boldItalic r:id="rId7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font" Target="fonts/font1.fntdata"/><Relationship Id="rId72" Type="http://schemas.openxmlformats.org/officeDocument/2006/relationships/font" Target="fonts/font2.fntdata"/><Relationship Id="rId73" Type="http://schemas.openxmlformats.org/officeDocument/2006/relationships/font" Target="fonts/font3.fntdata"/><Relationship Id="rId7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8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Relationship Id="rId3" Type="http://schemas.openxmlformats.org/officeDocument/2006/relationships/image" Target="../media/image13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Relationship Id="rId3" Type="http://schemas.openxmlformats.org/officeDocument/2006/relationships/image" Target="../media/image13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5xa43c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5817" y="377774"/>
            <a:ext cx="1008162" cy="12795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Epilogue"/>
              </a:rPr>
              <a:t>university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965200"/>
            <a:ext cx="3975100" cy="584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4600" b="1">
                <a:solidFill>
                  <a:srgbClr val="F3F6F8"/>
                </a:solidFill>
                <a:latin typeface="Epilogue"/>
              </a:rPr>
              <a:t>Potential-Based Reward Shaping</a:t>
            </a:r>
            <a:r>
              <a:rPr sz="4600" b="1">
                <a:solidFill>
                  <a:srgbClr val="F3F6F8"/>
                </a:solidFill>
                <a:latin typeface="Epilogue"/>
              </a:rPr>
              <a:t>
</a:t>
            </a:r>
            <a:r>
              <a:rPr sz="4600" b="1">
                <a:solidFill>
                  <a:srgbClr val="F3F6F8"/>
                </a:solidFill>
                <a:latin typeface="Epilogue"/>
              </a:rPr>
              <a:t>for Planar Pushing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540" y="1626866"/>
            <a:ext cx="3492040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F3F6F8"/>
                </a:solidFill>
                <a:latin typeface="Epilogue"/>
              </a:rPr>
              <a:t>Single-Agent Control vs. Asymmetric Self-Play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540" y="2467718"/>
            <a:ext cx="1577993" cy="9749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F3F6F8"/>
                </a:solidFill>
                <a:latin typeface="Epilogue"/>
              </a:rPr>
              <a:t>VadIftime s3426394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3540" y="2720583"/>
            <a:ext cx="3024486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F3F6F8"/>
                </a:solidFill>
                <a:latin typeface="Epilogue"/>
              </a:rPr>
              <a:t>Faculty of Science and Engineering,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3540" y="2842446"/>
            <a:ext cx="1230980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F3F6F8"/>
                </a:solidFill>
                <a:latin typeface="Epilogue"/>
              </a:rPr>
              <a:t>University of Groningen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3652" y="2845492"/>
            <a:ext cx="522344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F3F6F8"/>
                </a:solidFill>
                <a:latin typeface="Epilogue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g4rlip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0157" y="959668"/>
            <a:ext cx="4554994" cy="30161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2300" b="1">
                <a:solidFill>
                  <a:srgbClr val="0066CC"/>
                </a:solidFill>
                <a:latin typeface="Epilogue"/>
              </a:rPr>
              <a:t>1. Introduction &amp;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dqwbw8k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6133" y="322936"/>
            <a:ext cx="851093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90" y="917016"/>
            <a:ext cx="2195309" cy="9444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1. Introduction &amp;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0935" y="917016"/>
            <a:ext cx="2069898" cy="23763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5.</a:t>
            </a:r>
            <a:r>
              <a:rPr sz="600" b="0">
                <a:solidFill>
                  <a:srgbClr val="000000"/>
                </a:solidFill>
                <a:latin typeface="Epilogue"/>
              </a:rPr>
              <a:t>Evaluation</a:t>
            </a:r>
            <a:r>
              <a:rPr sz="600" b="0">
                <a:solidFill>
                  <a:srgbClr val="000000"/>
                </a:solidFill>
                <a:latin typeface="Epilogue"/>
              </a:rPr>
              <a:t>
</a:t>
            </a:r>
            <a:r>
              <a:rPr sz="600" b="0">
                <a:solidFill>
                  <a:srgbClr val="000000"/>
                </a:solidFill>
                <a:latin typeface="Epilogue"/>
              </a:rPr>
              <a:t>30 held-out scenes· 20 trials· lsaac vs gym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90" y="1105903"/>
            <a:ext cx="2005975" cy="374727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Background &amp; Related Work</a:t>
            </a:r>
            <a:r>
              <a:rPr sz="600" b="0">
                <a:solidFill>
                  <a:srgbClr val="000000"/>
                </a:solidFill>
                <a:latin typeface="Epilogue"/>
              </a:rPr>
              <a:t>
</a:t>
            </a:r>
            <a:r>
              <a:rPr sz="600" b="0">
                <a:solidFill>
                  <a:srgbClr val="000000"/>
                </a:solidFill>
                <a:latin typeface="Epilogue"/>
              </a:rPr>
              <a:t>reward shaping·curriculum &amp; self-play· push</a:t>
            </a:r>
            <a:r>
              <a:rPr sz="600" b="0">
                <a:solidFill>
                  <a:srgbClr val="000000"/>
                </a:solidFill>
                <a:latin typeface="Epilogue"/>
              </a:rPr>
              <a:t>
</a:t>
            </a:r>
            <a:r>
              <a:rPr sz="600" b="0">
                <a:solidFill>
                  <a:srgbClr val="000000"/>
                </a:solidFill>
                <a:latin typeface="Epilogue"/>
              </a:rPr>
              <a:t>mechanics&amp;SE(2)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3133" y="1246045"/>
            <a:ext cx="452942" cy="7921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3979" y="1437979"/>
            <a:ext cx="832829" cy="7616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7．</a:t>
            </a:r>
            <a:r>
              <a:rPr sz="600" b="0">
                <a:solidFill>
                  <a:srgbClr val="000000"/>
                </a:solidFill>
                <a:latin typeface="Epilogue"/>
              </a:rPr>
              <a:t>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90" y="1575074"/>
            <a:ext cx="1574340" cy="7921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3. Problem Definition &amp; MDP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3133" y="1623819"/>
            <a:ext cx="1508590" cy="10053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8. Conclusion &amp;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046" y="1763961"/>
            <a:ext cx="1780721" cy="35644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4. Implementation</a:t>
            </a:r>
            <a:r>
              <a:rPr sz="700" b="0">
                <a:solidFill>
                  <a:srgbClr val="000000"/>
                </a:solidFill>
                <a:latin typeface="Epilogue"/>
              </a:rPr>
              <a:t>
</a:t>
            </a:r>
            <a:r>
              <a:rPr sz="600" b="0">
                <a:solidFill>
                  <a:srgbClr val="000000"/>
                </a:solidFill>
                <a:latin typeface="Epilogue"/>
              </a:rPr>
              <a:t>five models:PPO-Baseline, PPO-PBRS,</a:t>
            </a:r>
            <a:r>
              <a:rPr sz="600" b="0">
                <a:solidFill>
                  <a:srgbClr val="000000"/>
                </a:solidFill>
                <a:latin typeface="Epilogue"/>
              </a:rPr>
              <a:t>
</a:t>
            </a:r>
            <a:r>
              <a:rPr sz="600" b="0">
                <a:solidFill>
                  <a:srgbClr val="000000"/>
                </a:solidFill>
                <a:latin typeface="Epilogue"/>
              </a:rPr>
              <a:t>PPO-Curriculum,ASP-dPose, TASP-dPose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6098" y="3101404"/>
            <a:ext cx="43833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jx2wya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176" y="322936"/>
            <a:ext cx="2403517" cy="1858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200" b="1">
                <a:solidFill>
                  <a:srgbClr val="444444"/>
                </a:solidFill>
                <a:latin typeface="Epilogue"/>
              </a:rPr>
              <a:t>Research Ouestions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089" y="892643"/>
            <a:ext cx="2118601" cy="12795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Epilogue"/>
              </a:rPr>
              <a:t>Three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046" y="1529376"/>
            <a:ext cx="2396211" cy="9749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task on a simulated robotic arm?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046" y="1736542"/>
            <a:ext cx="4797293" cy="64282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RQ2: Given a well-shaped PBRS reward, does modifying the training dynamics -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via sequential objective staging or adversarial goal generation - improve final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task performance over a direct single-agent approach in a multi-objective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planar pushing task on a simulated robotic arm?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134" y="2464672"/>
            <a:ext cx="4852085" cy="44175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RQ3: Does asymmetric self-play enable the learning of individual position and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orientation skills in a multi-objective planar pushing task on a simulated robotic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700" b="0">
                <a:solidFill>
                  <a:srgbClr val="000000"/>
                </a:solidFill>
                <a:latin typeface="Epilogue"/>
              </a:rPr>
              <a:t>arm?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089" y="3101404"/>
            <a:ext cx="2545975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[Ng, Harada &amp; Russell 1999] [Grzes 2017] [Devlin &amp; Kudenko 2012]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6098" y="3104451"/>
            <a:ext cx="47485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zw9z8z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990600"/>
            <a:ext cx="5303520" cy="330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2600" b="0">
                <a:solidFill>
                  <a:srgbClr val="0066CC"/>
                </a:solidFill>
                <a:latin typeface="Epilogue"/>
              </a:rPr>
              <a:t>2. Background &amp; Related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o1ykyez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6_d5ky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1117600"/>
            <a:ext cx="2501900" cy="368300"/>
          </a:xfrm>
          <a:prstGeom prst="rect">
            <a:avLst/>
          </a:prstGeom>
        </p:spPr>
      </p:pic>
      <p:pic>
        <p:nvPicPr>
          <p:cNvPr id="4" name="Picture 3" descr="temp_crop_img_bbjek0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727200"/>
            <a:ext cx="5105400" cy="330200"/>
          </a:xfrm>
          <a:prstGeom prst="rect">
            <a:avLst/>
          </a:prstGeom>
        </p:spPr>
      </p:pic>
      <p:pic>
        <p:nvPicPr>
          <p:cNvPr id="5" name="Picture 4" descr="temp_crop_img_nq3gj1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108200"/>
            <a:ext cx="4495800" cy="17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1300" y="292100"/>
            <a:ext cx="283464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Reward Shaping (PBRS)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825500"/>
            <a:ext cx="2621280" cy="1651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Epilogue"/>
              </a:rPr>
              <a:t>Potential-based reward shaping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134" y="2351949"/>
            <a:ext cx="4478286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Dynamic / arbitrary potentials - basis for our exponential Φ.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045" y="2732769"/>
            <a:ext cx="4807034" cy="10662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the task's optimum - the foundation of every model in this thesis.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300" y="2921000"/>
            <a:ext cx="3139440" cy="101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[Ng et al. 1999] [Grześ 2017] [Devlin &amp; Kudenko 2012] [Harutyunyan et al. 2015]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6098" y="3101404"/>
            <a:ext cx="43833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96ngw5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mjvrvqf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500" y="1447800"/>
            <a:ext cx="2095500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1300" y="292100"/>
            <a:ext cx="425196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Curriculum &amp; Asymmetric Self-Play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133" y="886550"/>
            <a:ext cx="1245591" cy="9749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Epilogue"/>
              </a:rPr>
              <a:t>Forced curricula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2637" y="889597"/>
            <a:ext cx="1614520" cy="12795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Epilogue"/>
              </a:rPr>
              <a:t>Automatic (self-play)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90" y="1102857"/>
            <a:ext cx="580789" cy="11881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• Surveys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9639" y="1102857"/>
            <a:ext cx="2085118" cy="268097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AsP: Alice/Bob adversarial game +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700" b="0">
                <a:solidFill>
                  <a:srgbClr val="000000"/>
                </a:solidFill>
                <a:latin typeface="Epilogue"/>
              </a:rPr>
              <a:t>ABC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134" y="1306976"/>
            <a:ext cx="2170349" cy="29551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Reverse / goal: start near the goal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expand outward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134" y="1687797"/>
            <a:ext cx="1951183" cy="268097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Precision: gradually tighten the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success tolerance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2683" y="1867545"/>
            <a:ext cx="1037384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Regret-based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089" y="2068618"/>
            <a:ext cx="2203833" cy="29856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Our use: a forced 3-phase pos—→rot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curriculum (PPO-Curriculum)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2637" y="2077758"/>
            <a:ext cx="2158173" cy="29551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Our use: ASP-dPose(outcome) and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TASP-dPose (time-based)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01" y="2705350"/>
            <a:ext cx="3565095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[Narvekar et al. 2020] [Portelas et al. 2020] [sukhbaatar et al.2018] [Plappert et al. 2021]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2186" y="3104451"/>
            <a:ext cx="43833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vxydg9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5dmftb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0" y="952500"/>
            <a:ext cx="1625600" cy="749300"/>
          </a:xfrm>
          <a:prstGeom prst="rect">
            <a:avLst/>
          </a:prstGeom>
        </p:spPr>
      </p:pic>
      <p:pic>
        <p:nvPicPr>
          <p:cNvPr id="4" name="Picture 3" descr="temp_crop_img_d1nknt0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" y="3086100"/>
            <a:ext cx="30988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1300" y="292100"/>
            <a:ext cx="501396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Geometry &amp; Mechanics of Planar Pushing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133" y="886550"/>
            <a:ext cx="1223675" cy="9749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Epilogue"/>
              </a:rPr>
              <a:t>Push mechanics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046" y="1096763"/>
            <a:ext cx="2465614" cy="268097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Quasi-static pushing: motion set by the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friction limit surface.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046" y="1477584"/>
            <a:ext cx="2754791" cy="27114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Limit-surface normality: every push couples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translation and rotation.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089" y="1907150"/>
            <a:ext cx="1172536" cy="12795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Epilogue"/>
              </a:rPr>
              <a:t>SE(2)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134" y="2120410"/>
            <a:ext cx="2906989" cy="4691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Unified distance: a single scalar that combines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position and orientation error, weighted by the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object's physical size 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90" y="2674885"/>
            <a:ext cx="2243404" cy="29551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Equivariant manipulation: exploiting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SE(2)/S0(2) symmetry.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3054" y="3101404"/>
            <a:ext cx="47485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zw9z8z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7970" y="1051065"/>
            <a:ext cx="4752243" cy="22544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700" b="0">
                <a:solidFill>
                  <a:srgbClr val="0066CC"/>
                </a:solidFill>
                <a:latin typeface="Epilogue"/>
              </a:rPr>
              <a:t>3. Problem Definition &amp; MDP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5vfz73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n5mtzgz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863600"/>
            <a:ext cx="3086100" cy="355600"/>
          </a:xfrm>
          <a:prstGeom prst="rect">
            <a:avLst/>
          </a:prstGeom>
        </p:spPr>
      </p:pic>
      <p:pic>
        <p:nvPicPr>
          <p:cNvPr id="4" name="Picture 3" descr="temp_crop_img_cljw16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" y="1270000"/>
            <a:ext cx="2832100" cy="330200"/>
          </a:xfrm>
          <a:prstGeom prst="rect">
            <a:avLst/>
          </a:prstGeom>
        </p:spPr>
      </p:pic>
      <p:pic>
        <p:nvPicPr>
          <p:cNvPr id="5" name="Picture 4" descr="temp_crop_img_0ojpv6_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00" y="1066800"/>
            <a:ext cx="1638300" cy="1193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1300" y="292100"/>
            <a:ext cx="579120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Planar-Pushing MDP - State, Action &amp; Transition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5411" y="913969"/>
            <a:ext cx="1475715" cy="4569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2E2E2E"/>
                </a:solidFill>
                <a:latin typeface="Epilogue"/>
              </a:rPr>
              <a:t>Planar Pushing Task — Object-Relative Action (r, φ, l, 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37" y="1718263"/>
            <a:ext cx="2876550" cy="29856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Transition : t ∞ ∇f(w)– limit-surface normality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couples every push with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781" y="2114317"/>
            <a:ext cx="2362119" cy="4691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Success: pos &lt; 5 cm and rot &lt; 0.2rad.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pushes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089" y="2808934"/>
            <a:ext cx="2093032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Mason 1986][Lynch &amp; Mason 1996][Goyal et al.1991]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9571" y="3101404"/>
            <a:ext cx="91319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bltyfg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908aft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77900"/>
            <a:ext cx="4508500" cy="546100"/>
          </a:xfrm>
          <a:prstGeom prst="rect">
            <a:avLst/>
          </a:prstGeom>
        </p:spPr>
      </p:pic>
      <p:pic>
        <p:nvPicPr>
          <p:cNvPr id="4" name="Picture 3" descr="temp_crop_img_ikldop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879600"/>
            <a:ext cx="2959100" cy="165100"/>
          </a:xfrm>
          <a:prstGeom prst="rect">
            <a:avLst/>
          </a:prstGeom>
        </p:spPr>
      </p:pic>
      <p:pic>
        <p:nvPicPr>
          <p:cNvPr id="5" name="Picture 4" descr="temp_crop_img_8__pry_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700" y="2273300"/>
            <a:ext cx="2095500" cy="33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9176" y="322936"/>
            <a:ext cx="3966899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How the Fractional Reward Failed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133" y="856085"/>
            <a:ext cx="2491183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Fractional improvement formula: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089" y="1599447"/>
            <a:ext cx="5322074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Worked example - pushing toward a goal 30 cm away, 1 cm improvement: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781" y="2306250"/>
            <a:ext cx="2867418" cy="10053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Problem 1 - Negative reward for progress: 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089" y="2811980"/>
            <a:ext cx="2414475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[Ng et al. 1999][Grzes &amp; Kudenko 2009][Schulman et al. 2017]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1747" y="3104451"/>
            <a:ext cx="6940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bfvwmp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pqhqmft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800100"/>
            <a:ext cx="2971800" cy="190500"/>
          </a:xfrm>
          <a:prstGeom prst="rect">
            <a:avLst/>
          </a:prstGeom>
        </p:spPr>
      </p:pic>
      <p:pic>
        <p:nvPicPr>
          <p:cNvPr id="4" name="Picture 3" descr="temp_crop_img_xhdtxck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320800"/>
            <a:ext cx="4051300" cy="228600"/>
          </a:xfrm>
          <a:prstGeom prst="rect">
            <a:avLst/>
          </a:prstGeom>
        </p:spPr>
      </p:pic>
      <p:pic>
        <p:nvPicPr>
          <p:cNvPr id="5" name="Picture 4" descr="temp_crop_img_isq759o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311400"/>
            <a:ext cx="4927600" cy="165100"/>
          </a:xfrm>
          <a:prstGeom prst="rect">
            <a:avLst/>
          </a:prstGeom>
        </p:spPr>
      </p:pic>
      <p:pic>
        <p:nvPicPr>
          <p:cNvPr id="6" name="Picture 5" descr="temp_crop_img_b9vjncq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527300"/>
            <a:ext cx="4356100" cy="165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9176" y="322936"/>
            <a:ext cx="3243652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How PBRS Fixes the Reward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089" y="1078484"/>
            <a:ext cx="2779751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Same push, same 1 cm improvement: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089" y="1748729"/>
            <a:ext cx="1325952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Epilogue"/>
              </a:rPr>
              <a:t>Why this matters: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178" y="2138689"/>
            <a:ext cx="613664" cy="11881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2743200"/>
            <a:ext cx="6019800" cy="152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• Policy-invariant – the optimal policy under PBRS is identical to the original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089" y="2979541"/>
            <a:ext cx="2071116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Ng et al. 1999][Grzes 2017] [Harutyunyan et al. 2015]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9571" y="3104451"/>
            <a:ext cx="87666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zw9z8z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4000" y="1003300"/>
            <a:ext cx="3215640" cy="3175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2500" b="0">
                <a:solidFill>
                  <a:srgbClr val="0066CC"/>
                </a:solidFill>
                <a:latin typeface="Epilogue"/>
              </a:rPr>
              <a:t>4. Implementation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25_juog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3jjk7ix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900" y="1054100"/>
            <a:ext cx="1282700" cy="876300"/>
          </a:xfrm>
          <a:prstGeom prst="rect">
            <a:avLst/>
          </a:prstGeom>
        </p:spPr>
      </p:pic>
      <p:pic>
        <p:nvPicPr>
          <p:cNvPr id="4" name="Picture 3" descr="temp_crop_img_8namdye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600" y="1054100"/>
            <a:ext cx="1295400" cy="876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133" y="322936"/>
            <a:ext cx="1804464" cy="1949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Epilogue"/>
              </a:rPr>
              <a:t>Why Isaac Lab?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5783" y="913969"/>
            <a:ext cx="1585298" cy="3960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Epilogue"/>
              </a:rPr>
              <a:t>Isaac vs Gym — Why GPU-Batched Parallelism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90" y="938342"/>
            <a:ext cx="2057722" cy="79515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1. GPU-batched parallelism — 528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simultaneous environments produce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7,920-sample PPO batches.gym-pusht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peaks at 960– 8x smaller. Large batches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stabilize the non-stationary self-play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gradient.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90" y="1821846"/>
            <a:ext cx="2176437" cy="51791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2.</a:t>
            </a:r>
            <a:r>
              <a:rPr sz="800" b="0">
                <a:solidFill>
                  <a:srgbClr val="000000"/>
                </a:solidFill>
                <a:latin typeface="Epilogue"/>
              </a:rPr>
              <a:t>No extra per-iteration cost - self-play and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single-agent run at identical wall-clock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(~0.022it/s). The two-agent machinery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adds negligible overhead.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7451" y="2038152"/>
            <a:ext cx="2633641" cy="10053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Throughput is comparable; batch size is 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9312" y="2233133"/>
            <a:ext cx="829176" cy="7921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differentiator.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9571" y="3104451"/>
            <a:ext cx="91319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noxh6m6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6133" y="322936"/>
            <a:ext cx="3882885" cy="1949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Epilogue"/>
              </a:rPr>
              <a:t>Why Isaac Lab? - Training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39571" y="3101404"/>
            <a:ext cx="87666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mgowhzk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4ltmq4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1320800"/>
            <a:ext cx="3314700" cy="673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176" y="322936"/>
            <a:ext cx="4485591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Baseline - Fractional Reward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089" y="856085"/>
            <a:ext cx="4709018" cy="29551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Same fractional reward, same PPO+LSTM, same 2,048 envs, same 10oK iter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budget: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45" y="2190481"/>
            <a:ext cx="5089514" cy="45089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Same PPO+LSTM, same push primitive, same training budget – only the architecture differs.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BD1E1E"/>
                </a:solidFill>
                <a:latin typeface="Epilogue"/>
              </a:rPr>
              <a:t>The adversarial goal distribution, not the reward formula, is the bottleneck. (See Appendix k</a:t>
            </a:r>
            <a:r>
              <a:rPr sz="1000" b="0">
                <a:solidFill>
                  <a:srgbClr val="BD1E1E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for training budget comparison.)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089" y="2839399"/>
            <a:ext cx="1767936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[Sukhbaatar et al.2018][Plappert et al.2021]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39571" y="3101404"/>
            <a:ext cx="87666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x2p0je7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rai0ila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774700"/>
            <a:ext cx="5232400" cy="107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089" y="322936"/>
            <a:ext cx="2633641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All Models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917700"/>
            <a:ext cx="5867400" cy="1651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Epilogue"/>
              </a:rPr>
              <a:t>All five models share the same PPO+LSTM backbone and object-relative push primitive.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4644" y="2556069"/>
            <a:ext cx="2476572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[Schulman et al. 2017] [Ng et al. 1999][sukhbaatar et al. 2018]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5659" y="3104451"/>
            <a:ext cx="87666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l8nmyw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4000" y="292100"/>
            <a:ext cx="621792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PPO-PBRS – Single-Agent (Recommended Baseliney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089" y="840852"/>
            <a:ext cx="5086470" cy="25895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Architecture: Single PPO agent, LSTM(28—&gt;256) + MLP[512, 256] trunk, MultiCategorical heac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(4 dims X 21 bins). No curriculum, no Alice/Bob, no GoalEncoder.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089" y="1148555"/>
            <a:ext cx="4900788" cy="26200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Training: 528 envs, 15 pushes/rollout, ~3000 iterations ~1.6 days wall-clock (~0.022 it/s)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Why it works: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134" y="1526329"/>
            <a:ext cx="3532220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1. Dense, bounded gradient – PBRS fires on every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134" y="1754822"/>
            <a:ext cx="4693799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2. Fixed goal distribution - stationary random goals; no adversarial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90" y="1983314"/>
            <a:ext cx="4606132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3. Single network - one agent, one optimizer; no multi-agent instability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089" y="2604814"/>
            <a:ext cx="1957880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[Ng et al.1999][Grzes 2017][Schulman et al.2017]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6527" y="3101404"/>
            <a:ext cx="91319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idbakm3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3lyx2pw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1041400"/>
            <a:ext cx="1219200" cy="927100"/>
          </a:xfrm>
          <a:prstGeom prst="rect">
            <a:avLst/>
          </a:prstGeom>
        </p:spPr>
      </p:pic>
      <p:pic>
        <p:nvPicPr>
          <p:cNvPr id="4" name="Picture 3" descr="temp_crop_img_z5_r9f6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700" y="1041400"/>
            <a:ext cx="1231900" cy="927100"/>
          </a:xfrm>
          <a:prstGeom prst="rect">
            <a:avLst/>
          </a:prstGeom>
        </p:spPr>
      </p:pic>
      <p:pic>
        <p:nvPicPr>
          <p:cNvPr id="5" name="Picture 4" descr="temp_crop_img_hdhv_n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200" y="901700"/>
            <a:ext cx="2463800" cy="1003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4000" y="292100"/>
            <a:ext cx="516636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PBRS vs Fractional- Reward Signal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7530" y="910923"/>
            <a:ext cx="1574340" cy="3655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3C3C3C"/>
                </a:solidFill>
                <a:latin typeface="Epilogue"/>
              </a:rPr>
              <a:t>Simulated 5-Push Episode — PBRS vs Fractional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6132" y="2029013"/>
            <a:ext cx="2980653" cy="10358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Position error per iteration (TensorBoard): PBRS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715" y="2080804"/>
            <a:ext cx="2710349" cy="10053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Per-push reward - Fractional vs PBRS: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0507" y="2230086"/>
            <a:ext cx="2582502" cy="9749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at 528 envs converges tolower PosErr than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836" y="2278831"/>
            <a:ext cx="2863765" cy="10053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5-push episode. Fractional formula: negative 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2683" y="2403740"/>
            <a:ext cx="2553280" cy="7921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fractionalformula at 2.048 envs - 4×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12" y="2449439"/>
            <a:ext cx="2823584" cy="10053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zero for 80% of pushes. PBRS: correctly-signed,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1893" y="2574348"/>
            <a:ext cx="1355174" cy="7921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environment-efficient.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410" y="2623093"/>
            <a:ext cx="1428229" cy="10053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bounded on every push.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990" y="2839399"/>
            <a:ext cx="4791206" cy="24067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Dense signal on every push, bounded rewards, stable value - PBRS avoids the gradient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starvation and critic instability of the old fractional formula.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9571" y="3101404"/>
            <a:ext cx="91319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ct3r23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hyo2khz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1308100"/>
            <a:ext cx="4229100" cy="469900"/>
          </a:xfrm>
          <a:prstGeom prst="rect">
            <a:avLst/>
          </a:prstGeom>
        </p:spPr>
      </p:pic>
      <p:pic>
        <p:nvPicPr>
          <p:cNvPr id="4" name="Picture 3" descr="temp_crop_img_ldoxy5z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" y="1828800"/>
            <a:ext cx="2387600" cy="698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089" y="600173"/>
            <a:ext cx="646538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089" y="1133322"/>
            <a:ext cx="3309402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GAE advantage decomposes into two parts: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7440" y="2044246"/>
            <a:ext cx="2419954" cy="45698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Under ASP, Alice shifts goal distribution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V(s) perpetually stale. GAE bootstraps from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wrong values → biased advantage.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3686" y="2653559"/>
            <a:ext cx="3159639" cy="29247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Outcome: PBRS lifts ASP 0%  16.7%via the Φ-term -</a:t>
            </a:r>
            <a:r>
              <a:rPr sz="7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but only partially, because the V-term bias remains.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4351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a_9hwoo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rbksohi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6300"/>
            <a:ext cx="2641600" cy="177800"/>
          </a:xfrm>
          <a:prstGeom prst="rect">
            <a:avLst/>
          </a:prstGeom>
        </p:spPr>
      </p:pic>
      <p:pic>
        <p:nvPicPr>
          <p:cNvPr id="4" name="Picture 3" descr="temp_crop_img_et_7hbs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04900"/>
            <a:ext cx="2692400" cy="330200"/>
          </a:xfrm>
          <a:prstGeom prst="rect">
            <a:avLst/>
          </a:prstGeom>
        </p:spPr>
      </p:pic>
      <p:pic>
        <p:nvPicPr>
          <p:cNvPr id="5" name="Picture 4" descr="temp_crop_img_63zp756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60500"/>
            <a:ext cx="2692400" cy="342900"/>
          </a:xfrm>
          <a:prstGeom prst="rect">
            <a:avLst/>
          </a:prstGeom>
        </p:spPr>
      </p:pic>
      <p:pic>
        <p:nvPicPr>
          <p:cNvPr id="6" name="Picture 5" descr="temp_crop_img_mmslfry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9300" y="876300"/>
            <a:ext cx="1930400" cy="901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1300" y="292100"/>
            <a:ext cx="510540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SE(2) Unified Distance – Self-Play Variants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227" y="1791380"/>
            <a:ext cx="949718" cy="2741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A7A7A7"/>
                </a:solidFill>
                <a:latin typeface="Epilogue"/>
              </a:rPr>
              <a:t>T-block /L = O.O7m (rotation couples to translation)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90" y="1894964"/>
            <a:ext cx="2468658" cy="29856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Eliminates competing pos/rot gradients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— aligns reward with the coupled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045" y="2278831"/>
            <a:ext cx="2715219" cy="61235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Result: SE(2) does not rescue self-play -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ASP-dPose reaches only 6.7% validation SR vs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single-agent 80%. The self-play curriculum is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the root cause, not the metric.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089" y="2973448"/>
            <a:ext cx="2009019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[Park 1995] [Urain et al. 2023] [Lynch &amp; Mason 1996]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9571" y="3104451"/>
            <a:ext cx="84013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Epilog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6j2bp3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9nu8jv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041400"/>
            <a:ext cx="2095500" cy="152400"/>
          </a:xfrm>
          <a:prstGeom prst="rect">
            <a:avLst/>
          </a:prstGeom>
        </p:spPr>
      </p:pic>
      <p:pic>
        <p:nvPicPr>
          <p:cNvPr id="4" name="Picture 3" descr="temp_crop_img_oe0hl_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244600"/>
            <a:ext cx="5003800" cy="330200"/>
          </a:xfrm>
          <a:prstGeom prst="rect">
            <a:avLst/>
          </a:prstGeom>
        </p:spPr>
      </p:pic>
      <p:pic>
        <p:nvPicPr>
          <p:cNvPr id="5" name="Picture 4" descr="temp_crop_img_4qwcw5z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00" y="1866900"/>
            <a:ext cx="5207000" cy="33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9176" y="322936"/>
            <a:ext cx="5796933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PPO-Curriculum — Position—&gt;Rotation Curriculum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133" y="859131"/>
            <a:ext cx="4354092" cy="12186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Design: Same PPO agent as PPO-PBRS + 3-phase curriculum: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134" y="1654285"/>
            <a:ext cx="1881172" cy="12795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3. Full PBRS (multi-objective)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089" y="2613953"/>
            <a:ext cx="2524058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Narvekar et al. 2020] [Portelas et al. 2020][Florensa et al. 2017]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4351" y="3104451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  <a:latin typeface="Epilogue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pgffn9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kqxr0b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168400"/>
            <a:ext cx="5245100" cy="1981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089" y="322936"/>
            <a:ext cx="3378804" cy="1949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Epilogue"/>
              </a:rPr>
              <a:t>ASP Loop – Alice←→Bob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508" y="822572"/>
            <a:ext cx="175332" cy="4265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Init so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cr20ybq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j5hlhwt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282700"/>
            <a:ext cx="4419600" cy="635000"/>
          </a:xfrm>
          <a:prstGeom prst="rect">
            <a:avLst/>
          </a:prstGeom>
        </p:spPr>
      </p:pic>
      <p:pic>
        <p:nvPicPr>
          <p:cNvPr id="4" name="Picture 3" descr="temp_crop_img_uf_6gds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" y="2057400"/>
            <a:ext cx="5232400" cy="647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089" y="322936"/>
            <a:ext cx="4876437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ASP-dPose vsTASP-dPose - Alice Reward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089" y="1026692"/>
            <a:ext cx="540608" cy="9749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differs.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089" y="2863772"/>
            <a:ext cx="2611724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[Plappert et al. 2021] [Sukhbaatar et al. 2018] [Dennis et al.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7395" y="3104451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zw9z8z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623" y="1054111"/>
            <a:ext cx="2144171" cy="22239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700" b="1">
                <a:solidFill>
                  <a:srgbClr val="0066CC"/>
                </a:solidFill>
                <a:latin typeface="Epilogue"/>
              </a:rPr>
              <a:t>5.Evaluation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nnpzn3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a_cd3vq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812800"/>
            <a:ext cx="5118100" cy="1193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4000" y="292100"/>
            <a:ext cx="5608320" cy="203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600" b="1">
                <a:solidFill>
                  <a:srgbClr val="444444"/>
                </a:solidFill>
                <a:latin typeface="Epilogue"/>
              </a:rPr>
              <a:t>Validation Test Suite – Top 10 Held-Out Scenes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037" y="2437253"/>
            <a:ext cx="4401578" cy="5788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Top row: 5 easiest scenes (3-4 of 4 models pass)| Bottom row: 5 hardest scenes (0 of 4 models pass)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3449" y="2595674"/>
            <a:ext cx="354317" cy="5483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323232"/>
                </a:solidFill>
                <a:latin typeface="Epilogue"/>
              </a:rPr>
              <a:t>Start 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0935" y="2592627"/>
            <a:ext cx="343359" cy="4569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151515"/>
                </a:solidFill>
                <a:latin typeface="Epilogue"/>
              </a:rPr>
              <a:t>Goal 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375" y="2860725"/>
            <a:ext cx="4867305" cy="25895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T-block start pose &gt; goal pose. Every model is evaluated on an identical 30-scene suite (20 trials × up to 30</a:t>
            </a:r>
            <a:r>
              <a:rPr sz="600" b="0">
                <a:solidFill>
                  <a:srgbClr val="000000"/>
                </a:solidFill>
                <a:latin typeface="Epilogue"/>
              </a:rPr>
              <a:t>
</a:t>
            </a:r>
            <a:r>
              <a:rPr sz="600" b="0">
                <a:solidFill>
                  <a:srgbClr val="000000"/>
                </a:solidFill>
                <a:latin typeface="Epilogue"/>
              </a:rPr>
              <a:t>pushes per scene).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4351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c_rio5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mtsb8n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054100"/>
            <a:ext cx="1422400" cy="1409700"/>
          </a:xfrm>
          <a:prstGeom prst="rect">
            <a:avLst/>
          </a:prstGeom>
        </p:spPr>
      </p:pic>
      <p:pic>
        <p:nvPicPr>
          <p:cNvPr id="4" name="Picture 3" descr="temp_crop_img_uns3l_n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00" y="1193800"/>
            <a:ext cx="1422400" cy="1409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133" y="322936"/>
            <a:ext cx="3627192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1">
                <a:solidFill>
                  <a:srgbClr val="444444"/>
                </a:solidFill>
                <a:latin typeface="Epilogue"/>
              </a:rPr>
              <a:t>What Does Success Look Like?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8320" y="886550"/>
            <a:ext cx="1658353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Position-only 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5986" y="886550"/>
            <a:ext cx="1424577" cy="9444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Position +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6651" y="935295"/>
            <a:ext cx="964329" cy="10967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Epilogue"/>
              </a:rPr>
              <a:t>Success gate: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7778" y="1087624"/>
            <a:ext cx="62462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0608" y="1133322"/>
            <a:ext cx="1439796" cy="44175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• Object reaches goal</a:t>
            </a:r>
            <a:r>
              <a:rPr sz="700" b="0">
                <a:solidFill>
                  <a:srgbClr val="000000"/>
                </a:solidFill>
                <a:latin typeface="Epilogue"/>
              </a:rPr>
              <a:t>
</a:t>
            </a:r>
            <a:r>
              <a:rPr sz="700" b="0">
                <a:solidFill>
                  <a:srgbClr val="000000"/>
                </a:solidFill>
                <a:latin typeface="Epilogue"/>
              </a:rPr>
              <a:t>pos &lt; 0.05 m AND rot &lt;</a:t>
            </a:r>
            <a:r>
              <a:rPr sz="700" b="0">
                <a:solidFill>
                  <a:srgbClr val="000000"/>
                </a:solidFill>
                <a:latin typeface="Epilogue"/>
              </a:rPr>
              <a:t>
</a:t>
            </a:r>
            <a:r>
              <a:rPr sz="700" b="0">
                <a:solidFill>
                  <a:srgbClr val="000000"/>
                </a:solidFill>
                <a:latin typeface="Epilogue"/>
              </a:rPr>
              <a:t>0.2 rad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652" y="1687797"/>
            <a:ext cx="1604171" cy="29856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10/30 scenes are pos-only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(rotation ungated)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3652" y="2071665"/>
            <a:ext cx="1925005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20/30 scenes require 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6696" y="2278831"/>
            <a:ext cx="1485456" cy="29856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&gt;1 of 20 trials must pass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700" b="0">
                <a:solidFill>
                  <a:srgbClr val="000000"/>
                </a:solidFill>
                <a:latin typeface="Epilogue"/>
              </a:rPr>
              <a:t>per scene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0439" y="3104451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zw9z8z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1657" y="1054111"/>
            <a:ext cx="1651048" cy="22239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700" b="1">
                <a:solidFill>
                  <a:srgbClr val="0066CC"/>
                </a:solidFill>
                <a:latin typeface="Epilogue"/>
              </a:rPr>
              <a:t>6. Results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ljtng82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u4z4v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1155700"/>
            <a:ext cx="2425700" cy="1790700"/>
          </a:xfrm>
          <a:prstGeom prst="rect">
            <a:avLst/>
          </a:prstGeom>
        </p:spPr>
      </p:pic>
      <p:pic>
        <p:nvPicPr>
          <p:cNvPr id="4" name="Picture 3" descr="temp_crop_img_eeotwx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900" y="1155700"/>
            <a:ext cx="2438400" cy="172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2220" y="322936"/>
            <a:ext cx="2692085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Multi-Model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324" y="834759"/>
            <a:ext cx="2803494" cy="14014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Multi-Model Validation — 30 T-block Scenes, Best-of-20, 30-Push Budget</a:t>
            </a:r>
            <a:r>
              <a:rPr sz="600" b="0">
                <a:solidFill>
                  <a:srgbClr val="000000"/>
                </a:solidFill>
                <a:latin typeface="Epilogue"/>
              </a:rPr>
              <a:t>
</a:t>
            </a:r>
            <a:r>
              <a:rPr sz="600" b="0">
                <a:solidFill>
                  <a:srgbClr val="000000"/>
                </a:solidFill>
                <a:latin typeface="Epilogue"/>
              </a:rPr>
              <a:t>(Error bars = ±l SE across scenes)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9763" y="1118089"/>
            <a:ext cx="1278466" cy="5179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Overall SR (3o T-block scenes)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8026" y="1118089"/>
            <a:ext cx="657497" cy="5788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SR by Test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4351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qbv41gq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176" y="322936"/>
            <a:ext cx="3568748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PPO-PBRS — Validation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089" y="889597"/>
            <a:ext cx="2322547" cy="29856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Epilogue"/>
              </a:rPr>
              <a:t>30 held-out T-block scenes (20 trials</a:t>
            </a:r>
            <a:r>
              <a:rPr sz="1100" b="1">
                <a:solidFill>
                  <a:srgbClr val="000000"/>
                </a:solidFill>
                <a:latin typeface="Epilogue"/>
              </a:rPr>
              <a:t>
</a:t>
            </a:r>
            <a:r>
              <a:rPr sz="1100" b="1">
                <a:solidFill>
                  <a:srgbClr val="000000"/>
                </a:solidFill>
                <a:latin typeface="Epilogue"/>
              </a:rPr>
              <a:t>each):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178" y="1273464"/>
            <a:ext cx="2005975" cy="29856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• 80.0% SR (24/30) – pos-only 100%,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pos+rot 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046" y="1657332"/>
            <a:ext cx="1939007" cy="4691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PosErr 0.032 m, RotErr 0.568 rad</a:t>
            </a:r>
            <a:r>
              <a:rPr sz="7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(mean over all 30 scenes, incl.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failures)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134" y="2211807"/>
            <a:ext cx="2085118" cy="4661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Per-attempt (trial-level) SR 66%;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scene SR counts a scene solved if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any of its 20 trials passes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000" y="2832100"/>
            <a:ext cx="2011680" cy="101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[Ng et al. 1999] [Grześ 2017] [Schulman et al. 2017]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4351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1b1m8rx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95f8vr2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774700"/>
            <a:ext cx="4940300" cy="165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176" y="329029"/>
            <a:ext cx="3086583" cy="14623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PPO-PBRS - Per-Test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342" y="2565208"/>
            <a:ext cx="5687350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24/30 (80.0%) – 100% pos-only, 70% pos+rot. All 6 failures are rotation-limited (large-yaw / spin scenes); 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8601" y="2738863"/>
            <a:ext cx="1819075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rotation-dominant scenes 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9571" y="3101404"/>
            <a:ext cx="84013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5zx8hx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c1r02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774700"/>
            <a:ext cx="4940300" cy="1638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176" y="322936"/>
            <a:ext cx="3824441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PPO-Curriculum - Per-Test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111" y="2565208"/>
            <a:ext cx="5891904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23/30 (76.7%) – same 100% pos-only, 65% pos+rot. Tighter position precision from Phase 1 (0.023 vs 0.032 m), but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2040" y="2738863"/>
            <a:ext cx="2410822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marginally worse rotation (0.663 vs 0.568 rad).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4351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gkcc7_c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e51x2ry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800100"/>
            <a:ext cx="4940300" cy="762000"/>
          </a:xfrm>
          <a:prstGeom prst="rect">
            <a:avLst/>
          </a:prstGeom>
        </p:spPr>
      </p:pic>
      <p:pic>
        <p:nvPicPr>
          <p:cNvPr id="4" name="Picture 3" descr="temp_crop_img_ei6jte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1574800"/>
            <a:ext cx="4940300" cy="850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089" y="322936"/>
            <a:ext cx="3338624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TASP-dPose - Per-Test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3032" y="1544609"/>
            <a:ext cx="730552" cy="3655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Best Rotation Error per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19503" y="2735816"/>
            <a:ext cx="1340563" cy="9139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learned (RotErr 1.457rad).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4351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tndo74h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z2wux0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774700"/>
            <a:ext cx="4940300" cy="165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089" y="322936"/>
            <a:ext cx="3218083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ASP-dPose - Per-Test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9616" y="2565208"/>
            <a:ext cx="6140292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2/30 (6.7%) – only the two easiest position-only scenes pass. Zero pos+rot success; rotation never learned (RotErr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7237" y="2738863"/>
            <a:ext cx="2710349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1.612rad). Outcome-based Alice collapses entirely.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4351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o5drtl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vp5ws6t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774700"/>
            <a:ext cx="1727200" cy="939800"/>
          </a:xfrm>
          <a:prstGeom prst="rect">
            <a:avLst/>
          </a:prstGeom>
        </p:spPr>
      </p:pic>
      <p:pic>
        <p:nvPicPr>
          <p:cNvPr id="4" name="Picture 3" descr="temp_crop_img_qgcrs9x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700" y="774700"/>
            <a:ext cx="1727200" cy="927100"/>
          </a:xfrm>
          <a:prstGeom prst="rect">
            <a:avLst/>
          </a:prstGeom>
        </p:spPr>
      </p:pic>
      <p:pic>
        <p:nvPicPr>
          <p:cNvPr id="5" name="Picture 4" descr="temp_crop_img_50xdwqy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1701800"/>
            <a:ext cx="1727200" cy="939800"/>
          </a:xfrm>
          <a:prstGeom prst="rect">
            <a:avLst/>
          </a:prstGeom>
        </p:spPr>
      </p:pic>
      <p:pic>
        <p:nvPicPr>
          <p:cNvPr id="6" name="Picture 5" descr="temp_crop_img_wvadtc7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000" y="1701800"/>
            <a:ext cx="17272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4000" y="292100"/>
            <a:ext cx="243840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ASP vs TASP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968" y="2775421"/>
            <a:ext cx="5062119" cy="25895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ASP-dPose (outcome) vs TASP-dPose (time): displacement (top), valid-goal density (bottom). Bob solves few valid</a:t>
            </a:r>
            <a:r>
              <a:rPr sz="600" b="0">
                <a:solidFill>
                  <a:srgbClr val="000000"/>
                </a:solidFill>
                <a:latin typeface="Epilogue"/>
              </a:rPr>
              <a:t>
</a:t>
            </a:r>
            <a:r>
              <a:rPr sz="600" b="0">
                <a:solidFill>
                  <a:srgbClr val="000000"/>
                </a:solidFill>
                <a:latin typeface="Epilogue"/>
              </a:rPr>
              <a:t>goals (3.9% vs 5.5%).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4351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noxh6m6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176" y="316842"/>
            <a:ext cx="4657271" cy="19802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Epilogue"/>
              </a:rPr>
              <a:t>PPO-PBRS – Validation Runs (overhead)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24351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pf42ib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9iygqvz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55700"/>
            <a:ext cx="2540000" cy="1384300"/>
          </a:xfrm>
          <a:prstGeom prst="rect">
            <a:avLst/>
          </a:prstGeom>
        </p:spPr>
      </p:pic>
      <p:pic>
        <p:nvPicPr>
          <p:cNvPr id="4" name="Picture 3" descr="temp_crop_img_46q_dr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100" y="1155700"/>
            <a:ext cx="2400300" cy="138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000" y="292100"/>
            <a:ext cx="544068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Cross-Environment Validation – Isaac vs Gym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2897" y="828666"/>
            <a:ext cx="2600766" cy="5483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Cross-Environment Validation SR — Isaac Lab vs Gym-pusht HPC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1070" y="1041925"/>
            <a:ext cx="1220022" cy="4569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Isaac Lab (528 GPU, batch 7,920)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7542" y="1041925"/>
            <a:ext cx="1329605" cy="5179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Gym-pusht HPC (32 CPU, batch 960)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0439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noxh6m6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j6ha0t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016000"/>
            <a:ext cx="5181600" cy="1041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4000" y="304800"/>
            <a:ext cx="4404360" cy="2159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700" b="1">
                <a:solidFill>
                  <a:srgbClr val="444444"/>
                </a:solidFill>
                <a:latin typeface="Epilogue"/>
              </a:rPr>
              <a:t>Per-Scene Outcomes – Isaac vs Gym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8996" y="816479"/>
            <a:ext cx="2033370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Per-Scene Trial Success Rate — Isaac vs Gym HPC (30 T-block scenes, 20 trials each)</a:t>
            </a:r>
            <a:r>
              <a:rPr sz="600" b="0">
                <a:solidFill>
                  <a:srgbClr val="000000"/>
                </a:solidFill>
                <a:latin typeface="Epilogue"/>
              </a:rPr>
              <a:t>
</a:t>
            </a:r>
            <a:r>
              <a:rPr sz="600" b="0">
                <a:solidFill>
                  <a:srgbClr val="000000"/>
                </a:solidFill>
                <a:latin typeface="Epilogue"/>
              </a:rPr>
              <a:t>Colour: red=0 trials passed → yellow=10 → green=20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100" y="2184388"/>
            <a:ext cx="6059932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Colour: red (0 trials passed) &gt; yellow (1o) →→ green (all 20). Numbers = successful trials 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9086" y="2358042"/>
            <a:ext cx="1070259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scene out of 2o.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1307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zw9z8z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3359" y="1054111"/>
            <a:ext cx="2184351" cy="21935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700" b="1">
                <a:solidFill>
                  <a:srgbClr val="0066CC"/>
                </a:solidFill>
                <a:latin typeface="Epilogue"/>
              </a:rPr>
              <a:t>7. Discussion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nabuhho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gd43v8x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876300"/>
            <a:ext cx="2552700" cy="1663700"/>
          </a:xfrm>
          <a:prstGeom prst="rect">
            <a:avLst/>
          </a:prstGeom>
        </p:spPr>
      </p:pic>
      <p:pic>
        <p:nvPicPr>
          <p:cNvPr id="4" name="Picture 3" descr="temp_crop_img_2d2kr04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889000"/>
            <a:ext cx="2540000" cy="165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089" y="322936"/>
            <a:ext cx="5606989" cy="1949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Epilogue"/>
              </a:rPr>
              <a:t>ASP Diagnostic - Alice &amp; Bob Training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388" y="831712"/>
            <a:ext cx="1442840" cy="5788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Panel 1 — Alice Goal Validity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4892" y="831712"/>
            <a:ext cx="2155129" cy="4569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Panel 2 — Bob Per-Axis vs Combined Success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826" y="2839399"/>
            <a:ext cx="5606989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budgets. Right: Bob learns position and rotation to ~50% each under PBRS - but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806" y="3013054"/>
            <a:ext cx="4609785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combined gate caps at ~10%, 2.5 × below the independence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4351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6tgd162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rw4uk5m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1117600"/>
            <a:ext cx="3327400" cy="1206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089" y="322936"/>
            <a:ext cx="3130416" cy="1949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Epilogue"/>
              </a:rPr>
              <a:t>ASP - The Empirical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90" y="2729723"/>
            <a:ext cx="2180698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structural, not a budget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39571" y="3104451"/>
            <a:ext cx="84013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zw9z8z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90600"/>
            <a:ext cx="4693920" cy="330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2600" b="0">
                <a:solidFill>
                  <a:srgbClr val="0066CC"/>
                </a:solidFill>
                <a:latin typeface="Epilogue"/>
              </a:rPr>
              <a:t>8. Conclusion &amp; Takeaways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1x9is0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" y="292100"/>
            <a:ext cx="512064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600" b="1">
                <a:solidFill>
                  <a:srgbClr val="444444"/>
                </a:solidFill>
                <a:latin typeface="Epilogue"/>
              </a:rPr>
              <a:t>Conclusion – Environment Efficiency (RQ1)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1300" y="889000"/>
            <a:ext cx="4724400" cy="1651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Epilogue"/>
              </a:rPr>
              <a:t>RQ1 – PBRS reduces parallel-environment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089" y="1166834"/>
            <a:ext cx="5052987" cy="41737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PBRS achieves 80.0% SR at 528 parallel envs - 4× fewer than the fractional reward requires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(2,048 envs) for the same performance (83.3%). Dense, correctly-signed, bounded rewards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on every push. Policy invariance (Ng et al. 1999) holds with stochastic PhysX.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089" y="2351949"/>
            <a:ext cx="2071116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[Ng et al.1999][Grzes 2017][Harutyunyan et al.2015]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1307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i2d9ku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" y="292100"/>
            <a:ext cx="507492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Conclusion – Curriculum &amp; Self-Play (RQ2)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133" y="920063"/>
            <a:ext cx="5146741" cy="13709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Epilogue"/>
              </a:rPr>
              <a:t>RQ2 - Staging adds no value; self-play degrades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133" y="1319163"/>
            <a:ext cx="1132356" cy="11576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PBRS(80.0%, n.S.).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45" y="1471491"/>
            <a:ext cx="4894700" cy="41737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Adversarial goal generation: five self-play configurations across three simulators yield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stable on-policy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089" y="2108223"/>
            <a:ext cx="5116910" cy="62759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The substitution finding: PBRS substitutes for an explicit curriculum at this batch size -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curriculum adds 3.3pp (n.s.). This is regime-dependent: at gym batch 960, curriculum helps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(50% vs 10%). Self-play (4.8-11.9 × worse) helps in neither regime. Practical implication: invest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in reward design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089" y="2888144"/>
            <a:ext cx="2695738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Plappert et al. 2021][Sukhbaatar et al. 2018][Narvekar et al. 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4351" y="3104451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621h06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" y="292100"/>
            <a:ext cx="621792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600" b="1">
                <a:solidFill>
                  <a:srgbClr val="444444"/>
                </a:solidFill>
                <a:latin typeface="Epilogue"/>
              </a:rPr>
              <a:t>Conclusion – Individual Skills Under Self-Play (RQ3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89000"/>
            <a:ext cx="4572000" cy="1651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Epilogue"/>
              </a:rPr>
              <a:t>RQ3 – ASP teaches individual skills it cannot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089" y="1166834"/>
            <a:ext cx="5132130" cy="41737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Under PBRS-ASP, Bob learns per-axis position (54%) and rotation (45%) individually - but the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combined gate caps at 10%, 2.5x below the independence product (24-25%). Under the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original fractional reward, nothing is learned (1.3% per-axis, 0.07% combined). The adversarial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089" y="2428113"/>
            <a:ext cx="2714002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Plappert et al. 2021] [Sukhbaatar et al. 2018] [Schulman et al. 2017]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4351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ttjy9l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300" y="292100"/>
            <a:ext cx="598932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Computational Overhead – Self-Play Is Not Slower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089" y="856085"/>
            <a:ext cx="4666403" cy="29551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Controlled measurement (same machine, same 528 envs, same cuRobo IK +</a:t>
            </a:r>
            <a:r>
              <a:rPr sz="7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physics):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089" y="1200347"/>
            <a:ext cx="5049943" cy="63977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PPO-PBRS (single-agent) vs the self-play variants run at ∼1.0 × per-iteration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wall-clock (~0.022 it/s for both). The 2-agent machinery (Alice + Bob, GoalEncoder,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ABC, historical pool) adds no measurable per-iteration overhead - the shared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cuRobo IK + PhysX contact step dominates the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133" y="1937616"/>
            <a:ext cx="788996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Epilogue"/>
              </a:rPr>
              <a:t>Key result: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90" y="2114317"/>
            <a:ext cx="4492897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Self-play is not slower per iteration - it simply does not 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178" y="2458579"/>
            <a:ext cx="4569605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(two networks, non-stationary objective, ABC), not 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134" y="2811980"/>
            <a:ext cx="1088523" cy="11576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same 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089" y="2991728"/>
            <a:ext cx="1694881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Plappert et al. 2021][Schulman et al. 2017]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1307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z47vktf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176" y="322936"/>
            <a:ext cx="3082931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90" y="1044972"/>
            <a:ext cx="752468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equilibrium.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90" y="1197300"/>
            <a:ext cx="4912964" cy="26505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→ Zero-sum game theory (Letcher 2019) may stabilise symmetric self-play; test penalty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only on non-catastrophe 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90" y="1550702"/>
            <a:ext cx="4602480" cy="26505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Combined pos+rot gate is the universal bottleneck - joint gate rarely fires under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self-play (0-10% pos+rot)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700" y="1828800"/>
            <a:ext cx="5958840" cy="152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Epilogue"/>
              </a:rPr>
              <a:t>→ Relaxed success gate or partial credit per objective to provide gradient toward both.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90" y="2056432"/>
            <a:ext cx="4538556" cy="24067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3. Single-seed validation - training SR variance across 5 chains (BestSR 0.081-0.110)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→ Re-evaluate checkpoints across 5 seeds for validation confidence intervals.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134" y="2565208"/>
            <a:ext cx="2841848" cy="10053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batch 7,920; curriculum helps at batch 960.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046" y="2866818"/>
            <a:ext cx="675760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threshold.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089" y="3064845"/>
            <a:ext cx="2451003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[Letcher et al.2019][Dennis et al. 2020] [Schulman et al.2017]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0439" y="3104451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19iltj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5817" y="377774"/>
            <a:ext cx="1008162" cy="12795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Epilogue"/>
              </a:rPr>
              <a:t>universityof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583" y="1614680"/>
            <a:ext cx="3382457" cy="22239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700" b="1">
                <a:solidFill>
                  <a:srgbClr val="F3F6F8"/>
                </a:solidFill>
                <a:latin typeface="Epilogue"/>
              </a:rPr>
              <a:t>Thank You -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540" y="2367182"/>
            <a:ext cx="1577993" cy="9749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F3F6F8"/>
                </a:solidFill>
                <a:latin typeface="Epilogue"/>
              </a:rPr>
              <a:t>VladIftime s3426394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540" y="2623093"/>
            <a:ext cx="3024486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F3F6F8"/>
                </a:solidFill>
                <a:latin typeface="Epilogue"/>
              </a:rPr>
              <a:t>Faculty of Science and Engineering,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3540" y="2741909"/>
            <a:ext cx="1230980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F3F6F8"/>
                </a:solidFill>
                <a:latin typeface="Epilogue"/>
              </a:rPr>
              <a:t>University of Groningen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3652" y="2744956"/>
            <a:ext cx="522344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F3F6F8"/>
                </a:solidFill>
                <a:latin typeface="Epilogue"/>
              </a:rPr>
              <a:t>June 2026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2te2lh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938zijg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81100"/>
            <a:ext cx="30226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089" y="322936"/>
            <a:ext cx="2045546" cy="1949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Epilogue"/>
              </a:rPr>
              <a:t>Appendix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38200"/>
            <a:ext cx="4617720" cy="152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• A. Push Mechanics – Limit Surface &amp; Characteristic Length 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134" y="1032785"/>
            <a:ext cx="4858173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B. Training curves for all PBRS models (Success Rate, Reward, Loss)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134" y="1380094"/>
            <a:ext cx="3488387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D. Validation scene descriptions (30 test cases)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134" y="1550702"/>
            <a:ext cx="3674678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E. cuRobo IK pipeline and workspace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701800"/>
            <a:ext cx="4297680" cy="152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•F. Observation space specifications (all model variants)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90" y="1894964"/>
            <a:ext cx="4897744" cy="29856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G. Per-test error bars - PPO-PBRS vs PPO-Curriculum head-to-head and all-model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comparison (95% binomial Cls)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134" y="2239226"/>
            <a:ext cx="4916617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H. P82 Curriculum Trigger Bug - why the original trigger never fired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134" y="2412880"/>
            <a:ext cx="4456369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I. BobPenalty Fail-Fast Equilibrium - degeneracy mechanism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2552700"/>
            <a:ext cx="4937760" cy="152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• J. Confounded Ablation Disaggregation – 7-axis variation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2743200"/>
            <a:ext cx="4937760" cy="1397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• K. Training Budget Comparison – envs, iterations, push-macros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134" y="2930796"/>
            <a:ext cx="4569605" cy="9749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L. Validation Protocol - scene set, trials, disclosed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4351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mej2vay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jsvt1az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990600"/>
            <a:ext cx="2514600" cy="444500"/>
          </a:xfrm>
          <a:prstGeom prst="rect">
            <a:avLst/>
          </a:prstGeom>
        </p:spPr>
      </p:pic>
      <p:pic>
        <p:nvPicPr>
          <p:cNvPr id="4" name="Picture 3" descr="temp_crop_img_4kntkpz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98600"/>
            <a:ext cx="4533900" cy="165100"/>
          </a:xfrm>
          <a:prstGeom prst="rect">
            <a:avLst/>
          </a:prstGeom>
        </p:spPr>
      </p:pic>
      <p:pic>
        <p:nvPicPr>
          <p:cNvPr id="5" name="Picture 4" descr="temp_crop_img_6ky3a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" y="1968500"/>
            <a:ext cx="3632200" cy="317500"/>
          </a:xfrm>
          <a:prstGeom prst="rect">
            <a:avLst/>
          </a:prstGeom>
        </p:spPr>
      </p:pic>
      <p:pic>
        <p:nvPicPr>
          <p:cNvPr id="6" name="Picture 5" descr="temp_crop_img_3zm56d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" y="2362200"/>
            <a:ext cx="1879600" cy="165100"/>
          </a:xfrm>
          <a:prstGeom prst="rect">
            <a:avLst/>
          </a:prstGeom>
        </p:spPr>
      </p:pic>
      <p:pic>
        <p:nvPicPr>
          <p:cNvPr id="7" name="Picture 6" descr="temp_crop_img_y58y4c6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300" y="2527300"/>
            <a:ext cx="4622800" cy="165100"/>
          </a:xfrm>
          <a:prstGeom prst="rect">
            <a:avLst/>
          </a:prstGeom>
        </p:spPr>
      </p:pic>
      <p:pic>
        <p:nvPicPr>
          <p:cNvPr id="8" name="Picture 7" descr="temp_crop_img_ub7t5irz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300" y="2755900"/>
            <a:ext cx="4051300" cy="165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9176" y="322936"/>
            <a:ext cx="3429943" cy="1949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Epilogue"/>
              </a:rPr>
              <a:t>PBRS - The Shaping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133" y="856085"/>
            <a:ext cx="646538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Ng et al.: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300" y="1727200"/>
            <a:ext cx="4160519" cy="1651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Our potential functions (PPO-PBRS / PPO-Curriculum):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089" y="2979541"/>
            <a:ext cx="2545975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[Ng, Harada &amp; Russell 1999][Grzes 2017] [Devlin &amp; Kudenko 2012]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4351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z7po7u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gw5kjh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25500"/>
            <a:ext cx="2336800" cy="165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176" y="322936"/>
            <a:ext cx="3813483" cy="1949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Epilogue"/>
              </a:rPr>
              <a:t>PBRS – Why It's the Right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" y="1041400"/>
            <a:ext cx="3657600" cy="152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1. Markovian – depends only on s, s', not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134" y="1267371"/>
            <a:ext cx="4441149" cy="29856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2. Bounded - exponential potentials prevent reward explosions from PhysX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contact spikes.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178" y="1818800"/>
            <a:ext cx="1132356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reward hacking.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134" y="2025966"/>
            <a:ext cx="4279819" cy="268097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4. No constant drain - F=O when stationary; no penalty for hesitation or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deliberation.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133" y="2455532"/>
            <a:ext cx="5059075" cy="4691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Key consequence: you can replace any ad-hoc reward with a potential-based one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policy optimisation are decoupled.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089" y="2979541"/>
            <a:ext cx="2589808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[Ng, Harada &amp; Russell 1999][Grzes 2017] [Harutyunyan et al. 2015]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9571" y="3101404"/>
            <a:ext cx="84013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pgy_uzn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o24e4pg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76300"/>
            <a:ext cx="2463800" cy="1206500"/>
          </a:xfrm>
          <a:prstGeom prst="rect">
            <a:avLst/>
          </a:prstGeom>
        </p:spPr>
      </p:pic>
      <p:pic>
        <p:nvPicPr>
          <p:cNvPr id="4" name="Picture 3" descr="temp_crop_img_b5nubvi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300" y="876300"/>
            <a:ext cx="2463800" cy="1206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9176" y="325982"/>
            <a:ext cx="3576053" cy="19193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Epilogue"/>
              </a:rPr>
              <a:t>PPO-PBRS - Training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133" y="2294064"/>
            <a:ext cx="5501059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Left: PPO-PBRS (blue) steadily improves training success rate over 30oo iterations.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133" y="2467718"/>
            <a:ext cx="6019751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PPO-Curriculum (orange) follows a similar trajectory but converges slightly lower. Self-play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089" y="2638326"/>
            <a:ext cx="6169514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variants remain near baseline throughout. Right: Stable value function - no explosion. Initial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264" y="2808934"/>
            <a:ext cx="1691228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V≈ 0.057with gain= 0.01.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089" y="2979541"/>
            <a:ext cx="1453799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[Schulman et al.2017][Ng et al.1999]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4351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gemmju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qpynq8q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889000"/>
            <a:ext cx="3175000" cy="1003300"/>
          </a:xfrm>
          <a:prstGeom prst="rect">
            <a:avLst/>
          </a:prstGeom>
        </p:spPr>
      </p:pic>
      <p:pic>
        <p:nvPicPr>
          <p:cNvPr id="4" name="Picture 3" descr="temp_crop_img_bd_9w6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19300"/>
            <a:ext cx="5257800" cy="81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9176" y="322936"/>
            <a:ext cx="3429943" cy="15232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PPO-Curricuum vs PPO-PBRS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089" y="2924703"/>
            <a:ext cx="2524058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[Narvekar et al. 2020][Portelas et al. 2020][Florensa et al. 2017]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4351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rg6sda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mvk7ak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838200"/>
            <a:ext cx="3949700" cy="927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1300" y="292100"/>
            <a:ext cx="409956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Self-Play – Validation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133" y="1910197"/>
            <a:ext cx="862051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Epilogue"/>
              </a:rPr>
              <a:t>Key findings: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90" y="2083851"/>
            <a:ext cx="4334610" cy="29856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Time-based self-play (TASP-dPose)is 2.5x better than outcome-based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(ASP-dPose), but still 4.8 × below single-agent PPO-PBRS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046" y="2437253"/>
            <a:ext cx="4912964" cy="268097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No self-play variant achieves pos+rot SR above 10% - the combined gate remains</a:t>
            </a:r>
            <a:r>
              <a:rPr sz="1000" b="0">
                <a:solidFill>
                  <a:srgbClr val="000000"/>
                </a:solidFill>
                <a:latin typeface="Epilogue"/>
              </a:rPr>
              <a:t>
</a:t>
            </a:r>
            <a:r>
              <a:rPr sz="1000" b="0">
                <a:solidFill>
                  <a:srgbClr val="000000"/>
                </a:solidFill>
                <a:latin typeface="Epilogue"/>
              </a:rPr>
              <a:t>the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90" y="2787608"/>
            <a:ext cx="2955084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Self-play complexity provides no benefit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089" y="2982588"/>
            <a:ext cx="2611724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[Plappert et al. 2021] [sukhbaatar et al. 2018][Dennis et al. 2020]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7395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8rcdh62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gg91fcm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155700"/>
            <a:ext cx="4076700" cy="2082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176" y="603220"/>
            <a:ext cx="1687576" cy="14928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100" b="1">
                <a:solidFill>
                  <a:srgbClr val="444444"/>
                </a:solidFill>
                <a:latin typeface="Epilogue"/>
              </a:rPr>
              <a:t>Rotation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4351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xpenxe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6sqg794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1054100"/>
            <a:ext cx="2209800" cy="800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1300" y="292100"/>
            <a:ext cx="576072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Appendix A – Push Mechanics: Limit Surface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089" y="892643"/>
            <a:ext cx="2368207" cy="393007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Limit surface normality: t ∞ f(w) – twist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is normal to the surface, so every push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couples translation and rotation.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8376" y="950528"/>
            <a:ext cx="420067" cy="3046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Epilogue"/>
              </a:rPr>
              <a:t>(Goyal et al. 1991)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5084" y="935295"/>
            <a:ext cx="507733" cy="3351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555555"/>
                </a:solidFill>
                <a:latin typeface="Epilogue"/>
              </a:rPr>
              <a:t>SE(2) Unified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089" y="1374001"/>
            <a:ext cx="1896392" cy="26505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Characteristic length L (radius of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gyration):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90" y="1751775"/>
            <a:ext cx="2100338" cy="26505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T-blockL = O.07m- an off-centre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push couples translation and rotation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046" y="2132596"/>
            <a:ext cx="1640698" cy="26505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L is a physical constant, not a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hyperparameter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6099" y="2068618"/>
            <a:ext cx="2690867" cy="26200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The T-block rotates under an off-centre push (coupled SE(2)</a:t>
            </a:r>
            <a:r>
              <a:rPr sz="600" b="0">
                <a:solidFill>
                  <a:srgbClr val="000000"/>
                </a:solidFill>
                <a:latin typeface="Epilogue"/>
              </a:rPr>
              <a:t>
</a:t>
            </a:r>
            <a:r>
              <a:rPr sz="600" b="0">
                <a:solidFill>
                  <a:srgbClr val="000000"/>
                </a:solidFill>
                <a:latin typeface="Epilogue"/>
              </a:rPr>
              <a:t>motion)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089" y="2717537"/>
            <a:ext cx="2180698" cy="7007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[Goyal et al.1991] [Howe &amp;Cutkosky1996][Mason 1986]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4351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noxh6m6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szygjwj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1790700" cy="1003300"/>
          </a:xfrm>
          <a:prstGeom prst="rect">
            <a:avLst/>
          </a:prstGeom>
        </p:spPr>
      </p:pic>
      <p:pic>
        <p:nvPicPr>
          <p:cNvPr id="4" name="Picture 3" descr="temp_crop_img_xakl2w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500" y="990600"/>
            <a:ext cx="1778000" cy="889000"/>
          </a:xfrm>
          <a:prstGeom prst="rect">
            <a:avLst/>
          </a:prstGeom>
        </p:spPr>
      </p:pic>
      <p:pic>
        <p:nvPicPr>
          <p:cNvPr id="5" name="Picture 4" descr="temp_crop_img_803nb7fj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019300"/>
            <a:ext cx="1790700" cy="876300"/>
          </a:xfrm>
          <a:prstGeom prst="rect">
            <a:avLst/>
          </a:prstGeom>
        </p:spPr>
      </p:pic>
      <p:pic>
        <p:nvPicPr>
          <p:cNvPr id="6" name="Picture 5" descr="temp_crop_img_0w1ha3n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000" y="1892300"/>
            <a:ext cx="1816100" cy="86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4000" y="292100"/>
            <a:ext cx="563880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Appendix B – Training Curves (All PBRS Models)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564" y="889597"/>
            <a:ext cx="1019120" cy="91396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Success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9312" y="886550"/>
            <a:ext cx="1011815" cy="9749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Mean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7440" y="2668792"/>
            <a:ext cx="788996" cy="9749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Value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0439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l5so5n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whmo3ej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1016000"/>
            <a:ext cx="1409700" cy="177800"/>
          </a:xfrm>
          <a:prstGeom prst="rect">
            <a:avLst/>
          </a:prstGeom>
        </p:spPr>
      </p:pic>
      <p:pic>
        <p:nvPicPr>
          <p:cNvPr id="4" name="Picture 3" descr="temp_crop_img_jboxeh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1193800"/>
            <a:ext cx="1282700" cy="977900"/>
          </a:xfrm>
          <a:prstGeom prst="rect">
            <a:avLst/>
          </a:prstGeom>
        </p:spPr>
      </p:pic>
      <p:pic>
        <p:nvPicPr>
          <p:cNvPr id="5" name="Picture 4" descr="temp_crop_img_vobzn1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1168400"/>
            <a:ext cx="1333500" cy="787400"/>
          </a:xfrm>
          <a:prstGeom prst="rect">
            <a:avLst/>
          </a:prstGeom>
        </p:spPr>
      </p:pic>
      <p:pic>
        <p:nvPicPr>
          <p:cNvPr id="6" name="Picture 5" descr="temp_crop_img_n8n25b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000" y="2324100"/>
            <a:ext cx="800100" cy="609600"/>
          </a:xfrm>
          <a:prstGeom prst="rect">
            <a:avLst/>
          </a:prstGeom>
        </p:spPr>
      </p:pic>
      <p:pic>
        <p:nvPicPr>
          <p:cNvPr id="7" name="Picture 6" descr="temp_crop_img_067nc6h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3100" y="2324100"/>
            <a:ext cx="7747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1300" y="292100"/>
            <a:ext cx="420624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Appendix C – PBRS Theory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355" y="886550"/>
            <a:ext cx="1552423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Potential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9706" y="886550"/>
            <a:ext cx="1610867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Gradient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1057158"/>
            <a:ext cx="1921352" cy="9749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Epilogue"/>
              </a:rPr>
              <a:t>PBRS vs Fractional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298" y="2842446"/>
            <a:ext cx="3776955" cy="12490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Epilogue"/>
              </a:rPr>
              <a:t>Cosine Angular Distance c(s) = (1 — cos(θ* − θ))/2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1307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db2s79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aksxsqu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927100"/>
            <a:ext cx="4394200" cy="149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4000" y="292100"/>
            <a:ext cx="6233159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Appendix G – Per-Test Error Bars (95% Binomial Cls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6944" y="825619"/>
            <a:ext cx="599052" cy="3046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151515"/>
                </a:solidFill>
                <a:latin typeface="Epilogue"/>
              </a:rPr>
              <a:t>Distance to Target per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627" y="2589581"/>
            <a:ext cx="4973844" cy="26505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Top: PPO-PBRS (blue) vs PPO-Curriculum (orange) head-to-head - per-scene trial-level SR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from 20 trials. Overlapping Cls on most scenes.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847" y="2894238"/>
            <a:ext cx="4943404" cy="286377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Bottom: All 4 models - the self-play variants are near-zero on all but the easiest scenes.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Green labels: position-only tests. Purple labels: position+rotation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4351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2t2xipq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3dbb4_7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2717800"/>
            <a:ext cx="5130800" cy="292100"/>
          </a:xfrm>
          <a:prstGeom prst="rect">
            <a:avLst/>
          </a:prstGeom>
        </p:spPr>
      </p:pic>
      <p:pic>
        <p:nvPicPr>
          <p:cNvPr id="4" name="Picture 3" descr="temp_crop_img_4298s8w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" y="3022600"/>
            <a:ext cx="49403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000" y="292100"/>
            <a:ext cx="4922520" cy="2413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900" b="1">
                <a:solidFill>
                  <a:srgbClr val="444444"/>
                </a:solidFill>
                <a:latin typeface="Epilogue"/>
              </a:rPr>
              <a:t>Appendix H – P82 Curriculum Trigger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133" y="999273"/>
            <a:ext cx="485817" cy="8530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metric.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133" y="1194253"/>
            <a:ext cx="1702187" cy="11576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Epilogue"/>
              </a:rPr>
              <a:t>Broken trigger (original):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155" y="1413606"/>
            <a:ext cx="5880946" cy="9444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If mean(per-push PosErr)&lt; 0.08 m for ALL 50 consecutive iterations  activate 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089" y="1626866"/>
            <a:ext cx="1238286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Epilogue"/>
              </a:rPr>
              <a:t>Why unreachable: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134" y="1830986"/>
            <a:ext cx="4705974" cy="26505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Per-push PosErr is measured after every push, including early ones far from a freshly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randomized goal (0.1-0.45 m away)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90" y="2184388"/>
            <a:ext cx="4654227" cy="24067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The iteration-mean has a structural floor well above O.08 m - even the best model's</a:t>
            </a:r>
            <a:r>
              <a:rPr sz="700" b="0">
                <a:solidFill>
                  <a:srgbClr val="000000"/>
                </a:solidFill>
                <a:latin typeface="Epilogue"/>
              </a:rPr>
              <a:t>
</a:t>
            </a:r>
            <a:r>
              <a:rPr sz="700" b="0">
                <a:solidFill>
                  <a:srgbClr val="000000"/>
                </a:solidFill>
                <a:latin typeface="Epilogue"/>
              </a:rPr>
              <a:t>validation PosErris 0.202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514600"/>
            <a:ext cx="4221480" cy="1397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•50-iteration AND gate: one noisy iteration resets the streak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4351" y="3101404"/>
            <a:ext cx="109582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Epilogue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dho2fz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t88h379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12800"/>
            <a:ext cx="5257800" cy="304800"/>
          </a:xfrm>
          <a:prstGeom prst="rect">
            <a:avLst/>
          </a:prstGeom>
        </p:spPr>
      </p:pic>
      <p:pic>
        <p:nvPicPr>
          <p:cNvPr id="4" name="Picture 3" descr="temp_crop_img_q0rrzz_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1358900"/>
            <a:ext cx="4013200" cy="774700"/>
          </a:xfrm>
          <a:prstGeom prst="rect">
            <a:avLst/>
          </a:prstGeom>
        </p:spPr>
      </p:pic>
      <p:pic>
        <p:nvPicPr>
          <p:cNvPr id="5" name="Picture 4" descr="temp_crop_img_rlb508h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3086100"/>
            <a:ext cx="51943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1300" y="292100"/>
            <a:ext cx="541020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Appendix I– BobPenalty Fail-Fast Equilibrium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089" y="1197300"/>
            <a:ext cx="2827237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Why it creates a degenerate equilibrium: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133" y="2211807"/>
            <a:ext cx="821871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Epilogue"/>
              </a:rPr>
              <a:t>Mechanism: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134" y="2562162"/>
            <a:ext cx="1738714" cy="115769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10 pushes and fail"(—20.0)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90" y="2769328"/>
            <a:ext cx="4797293" cy="23763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2. Since failing is easier than succeeding in contact-rich physics, the policy collapses to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immediate failure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dyaaylg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qa4w9xz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003300"/>
            <a:ext cx="3975100" cy="1282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4000" y="292100"/>
            <a:ext cx="6217920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Appendix J – Confounded Ablation Disaggregation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133" y="2364135"/>
            <a:ext cx="4617091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Implication: the 4.8 ×x SR gap cannot be attributed to any single Iever.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134" y="2769328"/>
            <a:ext cx="4547688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But this is a single 1-axis experiment within a 7-axis package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2946400"/>
            <a:ext cx="5836920" cy="152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Epilogue"/>
              </a:rPr>
              <a:t>• We present “self-play as implemented,” not “the curriculum mechanism in isolation”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4351" y="3101404"/>
            <a:ext cx="105930" cy="67024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000" y="3175000"/>
            <a:ext cx="1828800" cy="635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0">
                <a:solidFill>
                  <a:srgbClr val="666666"/>
                </a:solidFill>
                <a:latin typeface="Epilogue"/>
              </a:rPr>
              <a:t>[See thesis 86 3 for disagoregation analvsis]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g2fiu4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pic>
        <p:nvPicPr>
          <p:cNvPr id="3" name="Picture 2" descr="temp_crop_img_hnp5i2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206500"/>
            <a:ext cx="3810000" cy="123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089" y="322936"/>
            <a:ext cx="4982367" cy="1949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Epilogue"/>
              </a:rPr>
              <a:t>Appendix K - Training Budget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089" y="996227"/>
            <a:ext cx="2282976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direct architectural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089" y="2565208"/>
            <a:ext cx="588094" cy="85303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Epilogue"/>
              </a:rPr>
              <a:t>Caveats: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134" y="2763235"/>
            <a:ext cx="5428004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Epilogue"/>
              </a:rPr>
              <a:t>PPO-Baseline at 2,048 envs received ~129 x more push-macros than PBRS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134" y="3101404"/>
            <a:ext cx="5939390" cy="127955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a fraction of the total push budget</a:t>
            </a:r>
            <a:r>
              <a:rPr sz="600" b="0">
                <a:solidFill>
                  <a:srgbClr val="666666"/>
                </a:solidFill>
                <a:latin typeface="Epilogue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l3hnco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4000" y="292100"/>
            <a:ext cx="3916679" cy="228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1800" b="1">
                <a:solidFill>
                  <a:srgbClr val="444444"/>
                </a:solidFill>
                <a:latin typeface="Epilogue"/>
              </a:rPr>
              <a:t>Appendix L - Validation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089" y="843898"/>
            <a:ext cx="3415332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Epilogue"/>
              </a:rPr>
              <a:t>All models evaluated under an identical protocol: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178" y="1249092"/>
            <a:ext cx="3071972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(E_*/M_*/H_*), 10 combinedposition+rotation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90" y="1450165"/>
            <a:ext cx="4568996" cy="26505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Trials: 20 independent trials per scene (best-of-20); a scene is "solved" if any trial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meets the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90" y="1803567"/>
            <a:ext cx="4953145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Success gate: pos_err &lt; 0.05 m and rot_err &lt; 0.2 rad at trial termination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134" y="2007687"/>
            <a:ext cx="3893844" cy="112722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• Push budget: up to 30 pushes per trial (training uses 5-15)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90" y="2208760"/>
            <a:ext cx="4772942" cy="240678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Epilogue"/>
              </a:rPr>
              <a:t>Scene SR vs Trial SR: scene SR counts scenes where &gt;1/20 trials pass; trial SR counts</a:t>
            </a:r>
            <a:r>
              <a:rPr sz="900" b="0">
                <a:solidFill>
                  <a:srgbClr val="000000"/>
                </a:solidFill>
                <a:latin typeface="Epilogue"/>
              </a:rPr>
              <a:t>
</a:t>
            </a:r>
            <a:r>
              <a:rPr sz="900" b="0">
                <a:solidFill>
                  <a:srgbClr val="000000"/>
                </a:solidFill>
                <a:latin typeface="Epilogue"/>
              </a:rPr>
              <a:t>individual tria 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133" y="2613953"/>
            <a:ext cx="1468410" cy="8835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Epilogue"/>
              </a:rPr>
              <a:t>Disclosed limitations: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90" y="2967355"/>
            <a:ext cx="4955580" cy="255911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Epilogue"/>
              </a:rPr>
              <a:t>Training SR variance exists across 5 chains (PPO-PBRS BestSR 0.081-0.110) but validation</a:t>
            </a:r>
            <a:r>
              <a:rPr sz="800" b="0">
                <a:solidFill>
                  <a:srgbClr val="000000"/>
                </a:solidFill>
                <a:latin typeface="Epilogue"/>
              </a:rPr>
              <a:t>
</a:t>
            </a:r>
            <a:r>
              <a:rPr sz="800" b="0">
                <a:solidFill>
                  <a:srgbClr val="000000"/>
                </a:solidFill>
                <a:latin typeface="Epilogue"/>
              </a:rPr>
              <a:t>Cs are singe-mode.</a:t>
            </a:r>
            <a:r>
              <a:rPr sz="600" b="0">
                <a:solidFill>
                  <a:srgbClr val="666666"/>
                </a:solidFill>
                <a:latin typeface="Epilogue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0200" y="3086100"/>
            <a:ext cx="152400" cy="889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Epilogue"/>
              </a:rPr>
              <a:t>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